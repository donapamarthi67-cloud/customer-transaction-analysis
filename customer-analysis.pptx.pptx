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Red Hat Display" charset="1" panose="02010503040201060303"/>
      <p:regular r:id="rId16"/>
    </p:embeddedFont>
    <p:embeddedFont>
      <p:font typeface="Lato" charset="1" panose="020F0502020204030203"/>
      <p:regular r:id="rId17"/>
    </p:embeddedFont>
    <p:embeddedFont>
      <p:font typeface="Red Hat Display Italics" charset="1" panose="020105030402010D0303"/>
      <p:regular r:id="rId18"/>
    </p:embeddedFont>
    <p:embeddedFont>
      <p:font typeface="Red Hat Display Bold" charset="1" panose="02010803040201060303"/>
      <p:regular r:id="rId19"/>
    </p:embeddedFont>
    <p:embeddedFont>
      <p:font typeface="Lato Bold" charset="1" panose="020F050202020403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6095" y="1493604"/>
            <a:ext cx="11695306" cy="386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2"/>
              </a:lnSpc>
            </a:pPr>
            <a:r>
              <a:rPr lang="en-US" sz="1059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TRANSACTION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2181" y="6399403"/>
            <a:ext cx="6331894" cy="316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sz="3008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Tools U</a:t>
            </a:r>
            <a:r>
              <a:rPr lang="en-US" sz="3008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sed:</a:t>
            </a:r>
          </a:p>
          <a:p>
            <a:pPr algn="l" marL="649462" indent="-324731" lvl="1">
              <a:lnSpc>
                <a:spcPts val="4211"/>
              </a:lnSpc>
              <a:spcBef>
                <a:spcPct val="0"/>
              </a:spcBef>
              <a:buFont typeface="Arial"/>
              <a:buChar char="•"/>
            </a:pPr>
            <a:r>
              <a:rPr lang="en-US" sz="3008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Python</a:t>
            </a:r>
          </a:p>
          <a:p>
            <a:pPr algn="l" marL="649462" indent="-324731" lvl="1">
              <a:lnSpc>
                <a:spcPts val="4211"/>
              </a:lnSpc>
              <a:spcBef>
                <a:spcPct val="0"/>
              </a:spcBef>
              <a:buFont typeface="Arial"/>
              <a:buChar char="•"/>
            </a:pPr>
            <a:r>
              <a:rPr lang="en-US" sz="3008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</a:t>
            </a:r>
          </a:p>
          <a:p>
            <a:pPr algn="l" marL="649462" indent="-324731" lvl="1">
              <a:lnSpc>
                <a:spcPts val="4211"/>
              </a:lnSpc>
              <a:spcBef>
                <a:spcPct val="0"/>
              </a:spcBef>
              <a:buFont typeface="Arial"/>
              <a:buChar char="•"/>
            </a:pPr>
            <a:r>
              <a:rPr lang="en-US" sz="3008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Google Sheets</a:t>
            </a:r>
          </a:p>
          <a:p>
            <a:pPr algn="l" marL="649462" indent="-324731" lvl="1">
              <a:lnSpc>
                <a:spcPts val="4211"/>
              </a:lnSpc>
              <a:spcBef>
                <a:spcPct val="0"/>
              </a:spcBef>
              <a:buFont typeface="Arial"/>
              <a:buChar char="•"/>
            </a:pPr>
            <a:r>
              <a:rPr lang="en-US" sz="3008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VS Code</a:t>
            </a:r>
          </a:p>
          <a:p>
            <a:pPr algn="l">
              <a:lnSpc>
                <a:spcPts val="407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511402" y="8988153"/>
            <a:ext cx="4387809" cy="4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sz="2728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Presented by Donasri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1542318">
            <a:off x="13654428" y="80032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219192" y="5434495"/>
            <a:ext cx="1067895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  <a:spcBef>
                <a:spcPct val="0"/>
              </a:spcBef>
            </a:pPr>
            <a:r>
              <a:rPr lang="en-US" sz="5000" i="true">
                <a:solidFill>
                  <a:srgbClr val="FFFFFF"/>
                </a:solidFill>
                <a:latin typeface="Red Hat Display Italics"/>
                <a:ea typeface="Red Hat Display Italics"/>
                <a:cs typeface="Red Hat Display Italics"/>
                <a:sym typeface="Red Hat Display Italics"/>
              </a:rPr>
              <a:t>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4255355" y="46215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966208"/>
            <a:ext cx="10284037" cy="5465019"/>
            <a:chOff x="0" y="0"/>
            <a:chExt cx="13712050" cy="728669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712050" cy="7286692"/>
              <a:chOff x="0" y="0"/>
              <a:chExt cx="2708553" cy="143934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08553" cy="1439347"/>
              </a:xfrm>
              <a:custGeom>
                <a:avLst/>
                <a:gdLst/>
                <a:ahLst/>
                <a:cxnLst/>
                <a:rect r="r" b="b" t="t" l="l"/>
                <a:pathLst>
                  <a:path h="1439347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1424290"/>
                    </a:lnTo>
                    <a:cubicBezTo>
                      <a:pt x="2708553" y="1432606"/>
                      <a:pt x="2701812" y="1439347"/>
                      <a:pt x="2693497" y="1439347"/>
                    </a:cubicBezTo>
                    <a:lnTo>
                      <a:pt x="15056" y="1439347"/>
                    </a:lnTo>
                    <a:cubicBezTo>
                      <a:pt x="11063" y="1439347"/>
                      <a:pt x="7233" y="1437760"/>
                      <a:pt x="4410" y="1434937"/>
                    </a:cubicBezTo>
                    <a:cubicBezTo>
                      <a:pt x="1586" y="1432113"/>
                      <a:pt x="0" y="1428284"/>
                      <a:pt x="0" y="1424290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708553" cy="14774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75120" y="1115685"/>
              <a:ext cx="11368840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Objective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02120" y="3226290"/>
              <a:ext cx="10276762" cy="313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sz="2999" spc="179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</a:t>
              </a:r>
              <a:r>
                <a:rPr lang="en-US" sz="2999" spc="179" u="none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 objective of this project is to analyze customer transaction data and derive meaningful business insights using Python, SQL, and Google Sheets.</a:t>
              </a:r>
            </a:p>
            <a:p>
              <a:pPr algn="l" marL="0" indent="0" lvl="0">
                <a:lnSpc>
                  <a:spcPts val="28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40116" y="-2585142"/>
            <a:ext cx="4219615" cy="15773061"/>
            <a:chOff x="0" y="0"/>
            <a:chExt cx="5626153" cy="21030749"/>
          </a:xfrm>
        </p:grpSpPr>
        <p:sp>
          <p:nvSpPr>
            <p:cNvPr name="AutoShape 11" id="11"/>
            <p:cNvSpPr/>
            <p:nvPr/>
          </p:nvSpPr>
          <p:spPr>
            <a:xfrm flipV="true">
              <a:off x="263156" y="0"/>
              <a:ext cx="0" cy="21030749"/>
            </a:xfrm>
            <a:prstGeom prst="line">
              <a:avLst/>
            </a:prstGeom>
            <a:ln cap="flat" w="25400">
              <a:solidFill>
                <a:srgbClr val="F4F4E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-5400000">
              <a:off x="0" y="13112559"/>
              <a:ext cx="526312" cy="52631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0" y="9398595"/>
              <a:ext cx="526312" cy="52631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0" y="5531489"/>
              <a:ext cx="526312" cy="52631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32689" y="5368330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32689" y="7838080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26312" y="6387831"/>
              <a:ext cx="5099841" cy="98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Un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derstand customer transaction behavior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62320" y="9081107"/>
              <a:ext cx="5027825" cy="1085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1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</a:t>
              </a:r>
              <a:r>
                <a:rPr lang="en-US" sz="21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nalyze revenue trends over time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32689" y="10566246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26312" y="11754755"/>
              <a:ext cx="4793465" cy="1506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dentify top-performing customers, Create visualizations and dashboards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40937" y="7828623"/>
            <a:ext cx="86237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9819" y="8738868"/>
            <a:ext cx="3719912" cy="51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Support</a:t>
            </a:r>
            <a:r>
              <a:rPr lang="en-US" sz="2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data-driven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8471356" y="-3840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0133" y="2289265"/>
            <a:ext cx="8115300" cy="5651124"/>
            <a:chOff x="0" y="0"/>
            <a:chExt cx="10820400" cy="753483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20400" cy="7534831"/>
              <a:chOff x="0" y="0"/>
              <a:chExt cx="2137363" cy="148836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37363" cy="1488362"/>
              </a:xfrm>
              <a:custGeom>
                <a:avLst/>
                <a:gdLst/>
                <a:ahLst/>
                <a:cxnLst/>
                <a:rect r="r" b="b" t="t" l="l"/>
                <a:pathLst>
                  <a:path h="1488362" w="2137363">
                    <a:moveTo>
                      <a:pt x="19080" y="0"/>
                    </a:moveTo>
                    <a:lnTo>
                      <a:pt x="2118283" y="0"/>
                    </a:lnTo>
                    <a:cubicBezTo>
                      <a:pt x="2123343" y="0"/>
                      <a:pt x="2128196" y="2010"/>
                      <a:pt x="2131775" y="5588"/>
                    </a:cubicBezTo>
                    <a:cubicBezTo>
                      <a:pt x="2135353" y="9167"/>
                      <a:pt x="2137363" y="14020"/>
                      <a:pt x="2137363" y="19080"/>
                    </a:cubicBezTo>
                    <a:lnTo>
                      <a:pt x="2137363" y="1469282"/>
                    </a:lnTo>
                    <a:cubicBezTo>
                      <a:pt x="2137363" y="1479819"/>
                      <a:pt x="2128821" y="1488362"/>
                      <a:pt x="2118283" y="1488362"/>
                    </a:cubicBezTo>
                    <a:lnTo>
                      <a:pt x="19080" y="1488362"/>
                    </a:lnTo>
                    <a:cubicBezTo>
                      <a:pt x="8542" y="1488362"/>
                      <a:pt x="0" y="1479819"/>
                      <a:pt x="0" y="1469282"/>
                    </a:cubicBezTo>
                    <a:lnTo>
                      <a:pt x="0" y="19080"/>
                    </a:lnTo>
                    <a:cubicBezTo>
                      <a:pt x="0" y="8542"/>
                      <a:pt x="8542" y="0"/>
                      <a:pt x="19080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37363" cy="1526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03791" y="1367240"/>
              <a:ext cx="9366782" cy="310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30"/>
                </a:lnSpc>
              </a:pPr>
              <a:r>
                <a:rPr lang="en-US" sz="9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Dataset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56987" y="4903068"/>
              <a:ext cx="7860389" cy="958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39"/>
                </a:lnSpc>
                <a:spcBef>
                  <a:spcPct val="0"/>
                </a:spcBef>
              </a:pPr>
              <a:r>
                <a:rPr lang="en-US" sz="4399" spc="26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</a:t>
              </a:r>
              <a:r>
                <a:rPr lang="en-US" sz="4399" spc="26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ataset Information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21397" y="1095257"/>
            <a:ext cx="6998061" cy="8023496"/>
            <a:chOff x="0" y="0"/>
            <a:chExt cx="9330748" cy="1069799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330748" cy="3415370"/>
              <a:chOff x="0" y="0"/>
              <a:chExt cx="2342659" cy="85749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42659" cy="857492"/>
              </a:xfrm>
              <a:custGeom>
                <a:avLst/>
                <a:gdLst/>
                <a:ahLst/>
                <a:cxnLst/>
                <a:rect r="r" b="b" t="t" l="l"/>
                <a:pathLst>
                  <a:path h="857492" w="2342659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3689455"/>
              <a:ext cx="9330748" cy="3415370"/>
              <a:chOff x="0" y="0"/>
              <a:chExt cx="2342659" cy="85749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42659" cy="857492"/>
              </a:xfrm>
              <a:custGeom>
                <a:avLst/>
                <a:gdLst/>
                <a:ahLst/>
                <a:cxnLst/>
                <a:rect r="r" b="b" t="t" l="l"/>
                <a:pathLst>
                  <a:path h="857492" w="2342659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7282625"/>
              <a:ext cx="9330748" cy="3415370"/>
              <a:chOff x="0" y="0"/>
              <a:chExt cx="2342659" cy="85749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342659" cy="857492"/>
              </a:xfrm>
              <a:custGeom>
                <a:avLst/>
                <a:gdLst/>
                <a:ahLst/>
                <a:cxnLst/>
                <a:rect r="r" b="b" t="t" l="l"/>
                <a:pathLst>
                  <a:path h="857492" w="2342659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8245" y="1087920"/>
              <a:ext cx="2105270" cy="143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01.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88245" y="4777374"/>
              <a:ext cx="2105270" cy="143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02.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88245" y="8370545"/>
              <a:ext cx="2105270" cy="143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03.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991226" y="705825"/>
              <a:ext cx="5509503" cy="2324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pc="3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</a:t>
              </a:r>
              <a:r>
                <a:rPr lang="en-US" sz="2100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ataset Features</a:t>
              </a:r>
            </a:p>
            <a:p>
              <a:pPr algn="just" marL="453392" indent="-226696" lvl="1">
                <a:lnSpc>
                  <a:spcPts val="283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Customer ID</a:t>
              </a:r>
            </a:p>
            <a:p>
              <a:pPr algn="just" marL="453392" indent="-226696" lvl="1">
                <a:lnSpc>
                  <a:spcPts val="283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Transaction Date</a:t>
              </a:r>
            </a:p>
            <a:p>
              <a:pPr algn="just" marL="453392" indent="-226696" lvl="1">
                <a:lnSpc>
                  <a:spcPts val="283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Transaction Amount</a:t>
              </a:r>
            </a:p>
            <a:p>
              <a:pPr algn="just" marL="0" indent="0" lvl="0">
                <a:lnSpc>
                  <a:spcPts val="2835"/>
                </a:lnSpc>
                <a:spcBef>
                  <a:spcPct val="0"/>
                </a:spcBef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168208" y="4015550"/>
              <a:ext cx="5509503" cy="3264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sz="2099" spc="3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Da</a:t>
              </a: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taset Statistics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Transactions: 125,000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Customers: 6,889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Revenue: 8,123,673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Average Transaction Amount: 64.99</a:t>
              </a:r>
            </a:p>
            <a:p>
              <a:pPr algn="just" marL="0" indent="0" lvl="0">
                <a:lnSpc>
                  <a:spcPts val="2834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168208" y="7578705"/>
              <a:ext cx="5509503" cy="2794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sz="2099" spc="3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</a:t>
              </a: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echnologies Used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Pandas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Matplotlib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SQL</a:t>
              </a:r>
            </a:p>
            <a:p>
              <a:pPr algn="just" marL="453388" indent="-226694" lvl="1">
                <a:lnSpc>
                  <a:spcPts val="2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3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Google Sheets</a:t>
              </a:r>
            </a:p>
            <a:p>
              <a:pPr algn="just" marL="0" indent="0" lvl="0">
                <a:lnSpc>
                  <a:spcPts val="2834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8844239" y="322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3274" y="1294172"/>
            <a:ext cx="10531719" cy="4778385"/>
            <a:chOff x="0" y="0"/>
            <a:chExt cx="14042292" cy="637118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4042292" cy="6371180"/>
              <a:chOff x="0" y="0"/>
              <a:chExt cx="2708553" cy="122890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08553" cy="1228908"/>
              </a:xfrm>
              <a:custGeom>
                <a:avLst/>
                <a:gdLst/>
                <a:ahLst/>
                <a:cxnLst/>
                <a:rect r="r" b="b" t="t" l="l"/>
                <a:pathLst>
                  <a:path h="1228908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1213851"/>
                    </a:lnTo>
                    <a:cubicBezTo>
                      <a:pt x="2708553" y="1217844"/>
                      <a:pt x="2706967" y="1221674"/>
                      <a:pt x="2704143" y="1224498"/>
                    </a:cubicBezTo>
                    <a:cubicBezTo>
                      <a:pt x="2701320" y="1227321"/>
                      <a:pt x="2697490" y="1228908"/>
                      <a:pt x="2693497" y="1228908"/>
                    </a:cubicBezTo>
                    <a:lnTo>
                      <a:pt x="15056" y="1228908"/>
                    </a:lnTo>
                    <a:cubicBezTo>
                      <a:pt x="11063" y="1228908"/>
                      <a:pt x="7233" y="1227321"/>
                      <a:pt x="4410" y="1224498"/>
                    </a:cubicBezTo>
                    <a:cubicBezTo>
                      <a:pt x="1586" y="1221674"/>
                      <a:pt x="0" y="1217844"/>
                      <a:pt x="0" y="1213851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708553" cy="12670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188496" y="1134731"/>
              <a:ext cx="10724539" cy="2720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49"/>
                </a:lnSpc>
              </a:pPr>
              <a:r>
                <a:rPr lang="en-US" sz="7885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Data Cleaning &amp; Preparation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88496" y="4426372"/>
              <a:ext cx="9569907" cy="856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91"/>
                </a:lnSpc>
                <a:spcBef>
                  <a:spcPct val="0"/>
                </a:spcBef>
              </a:pPr>
              <a:r>
                <a:rPr lang="en-US" sz="3993" spc="23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</a:t>
              </a:r>
              <a:r>
                <a:rPr lang="en-US" sz="3993" spc="239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ata Cleaning Process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64221" y="-2307105"/>
            <a:ext cx="4395385" cy="15773061"/>
            <a:chOff x="0" y="0"/>
            <a:chExt cx="5860514" cy="21030749"/>
          </a:xfrm>
        </p:grpSpPr>
        <p:sp>
          <p:nvSpPr>
            <p:cNvPr name="AutoShape 11" id="11"/>
            <p:cNvSpPr/>
            <p:nvPr/>
          </p:nvSpPr>
          <p:spPr>
            <a:xfrm flipV="true">
              <a:off x="250456" y="0"/>
              <a:ext cx="0" cy="21030749"/>
            </a:xfrm>
            <a:prstGeom prst="line">
              <a:avLst/>
            </a:prstGeom>
            <a:ln cap="flat" w="25400">
              <a:solidFill>
                <a:srgbClr val="F4F4E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-5400000">
              <a:off x="0" y="13176617"/>
              <a:ext cx="526312" cy="52631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0" y="9159066"/>
              <a:ext cx="526312" cy="52631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0" y="5141515"/>
              <a:ext cx="526312" cy="52631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32689" y="4210181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32689" y="7371011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32689" y="5337996"/>
              <a:ext cx="4702057" cy="1932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Loaded transaction dataset using Pandas. Checked dataset structure and data types</a:t>
              </a:r>
            </a:p>
            <a:p>
              <a:pPr algn="l">
                <a:lnSpc>
                  <a:spcPts val="2963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32689" y="8487819"/>
              <a:ext cx="5027825" cy="2027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Id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entified and removed duplicate records. Converted transaction date into datetime format</a:t>
              </a:r>
            </a:p>
            <a:p>
              <a:pPr algn="l">
                <a:lnSpc>
                  <a:spcPts val="3119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32689" y="10537545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65530" y="11871958"/>
              <a:ext cx="4793465" cy="3068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reated additional columns:</a:t>
              </a:r>
            </a:p>
            <a:p>
              <a:pPr algn="l" marL="431797" indent="-215899" lvl="1">
                <a:lnSpc>
                  <a:spcPts val="311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Year</a:t>
              </a:r>
            </a:p>
            <a:p>
              <a:pPr algn="l" marL="431797" indent="-215899" lvl="1">
                <a:lnSpc>
                  <a:spcPts val="311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Month</a:t>
              </a:r>
            </a:p>
            <a:p>
              <a:pPr algn="l" marL="431797" indent="-215899" lvl="1">
                <a:lnSpc>
                  <a:spcPts val="311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Day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Verified data quality for analysis</a:t>
              </a:r>
            </a:p>
            <a:p>
              <a:pPr algn="l">
                <a:lnSpc>
                  <a:spcPts val="311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28721" y="6561463"/>
            <a:ext cx="7008634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999" spc="17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Resul</a:t>
            </a:r>
            <a:r>
              <a:rPr lang="en-US" sz="2999" spc="179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</a:p>
          <a:p>
            <a:pPr algn="l" marL="647694" indent="-323847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179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Removed 6 duplicate records</a:t>
            </a:r>
          </a:p>
          <a:p>
            <a:pPr algn="l" marL="647694" indent="-323847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179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Prepared dataset for time-based analysis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5583" y="5602134"/>
            <a:ext cx="20061513" cy="3932838"/>
            <a:chOff x="0" y="0"/>
            <a:chExt cx="26748685" cy="5243783"/>
          </a:xfrm>
        </p:grpSpPr>
        <p:sp>
          <p:nvSpPr>
            <p:cNvPr name="AutoShape 4" id="4"/>
            <p:cNvSpPr/>
            <p:nvPr/>
          </p:nvSpPr>
          <p:spPr>
            <a:xfrm>
              <a:off x="0" y="334704"/>
              <a:ext cx="26748685" cy="0"/>
            </a:xfrm>
            <a:prstGeom prst="line">
              <a:avLst/>
            </a:prstGeom>
            <a:ln cap="flat" w="38100">
              <a:solidFill>
                <a:srgbClr val="F4F4E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" id="5"/>
            <p:cNvGrpSpPr/>
            <p:nvPr/>
          </p:nvGrpSpPr>
          <p:grpSpPr>
            <a:xfrm rot="0">
              <a:off x="9089229" y="0"/>
              <a:ext cx="669408" cy="669408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151764" y="0"/>
              <a:ext cx="669408" cy="66940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4053845" y="0"/>
              <a:ext cx="669408" cy="669408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9043861" y="0"/>
              <a:ext cx="669408" cy="66940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151764" y="992669"/>
              <a:ext cx="2929765" cy="897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5"/>
                </a:lnSpc>
              </a:pPr>
              <a:r>
                <a:rPr lang="en-US" sz="25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Total Revenue Analysis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113633" y="992669"/>
              <a:ext cx="3224734" cy="897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5"/>
                </a:lnSpc>
              </a:pPr>
              <a:r>
                <a:rPr lang="en-US" sz="25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Top Customers Analysis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151764" y="2174828"/>
              <a:ext cx="3528656" cy="1506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LECT SUM(tran_amount)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FROM Transactions;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113633" y="2174828"/>
              <a:ext cx="3643816" cy="2548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LECT customer_id,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SUM(tran_amount)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FROM Transactions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GROUP BY customer_id;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4078249" y="992669"/>
              <a:ext cx="3873666" cy="897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5"/>
                </a:lnSpc>
              </a:pPr>
              <a:r>
                <a:rPr lang="en-US" sz="25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Monthly Revenue Analysis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078249" y="2174828"/>
              <a:ext cx="3663988" cy="3068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LECT MONTH(trans_date),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SUM(tran_amount)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FROM Transactions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GROUP BY MONTH(trans_date);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068264" y="992669"/>
              <a:ext cx="3528656" cy="897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5"/>
                </a:lnSpc>
              </a:pPr>
              <a:r>
                <a:rPr lang="en-US" sz="25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Yearly Revenue Analysis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9068264" y="2174828"/>
              <a:ext cx="3528656" cy="3068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LECT YEAR(trans_date),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SUM(tran_amount)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FROM Transactions</a:t>
              </a:r>
            </a:p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GROUP BY YEAR(trans_date);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978544" y="375942"/>
            <a:ext cx="4002910" cy="5013527"/>
          </a:xfrm>
          <a:custGeom>
            <a:avLst/>
            <a:gdLst/>
            <a:ahLst/>
            <a:cxnLst/>
            <a:rect r="r" b="b" t="t" l="l"/>
            <a:pathLst>
              <a:path h="5013527" w="4002910">
                <a:moveTo>
                  <a:pt x="0" y="0"/>
                </a:moveTo>
                <a:lnTo>
                  <a:pt x="4002910" y="0"/>
                </a:lnTo>
                <a:lnTo>
                  <a:pt x="4002910" y="5013527"/>
                </a:lnTo>
                <a:lnTo>
                  <a:pt x="0" y="501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52" t="0" r="-14737" b="-1793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981131" y="1986646"/>
            <a:ext cx="7540148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0"/>
              </a:lnSpc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SQL </a:t>
            </a:r>
          </a:p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626729">
            <a:off x="11878550" y="2429250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945083"/>
            <a:ext cx="13851811" cy="8694067"/>
            <a:chOff x="0" y="0"/>
            <a:chExt cx="18469082" cy="1159209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8469082" cy="11592090"/>
              <a:chOff x="0" y="0"/>
              <a:chExt cx="3648214" cy="22897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48214" cy="2289796"/>
              </a:xfrm>
              <a:custGeom>
                <a:avLst/>
                <a:gdLst/>
                <a:ahLst/>
                <a:cxnLst/>
                <a:rect r="r" b="b" t="t" l="l"/>
                <a:pathLst>
                  <a:path h="2289796" w="3648214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2278617"/>
                    </a:lnTo>
                    <a:cubicBezTo>
                      <a:pt x="3648214" y="2284791"/>
                      <a:pt x="3643209" y="2289796"/>
                      <a:pt x="3637035" y="2289796"/>
                    </a:cubicBezTo>
                    <a:lnTo>
                      <a:pt x="11178" y="2289796"/>
                    </a:lnTo>
                    <a:cubicBezTo>
                      <a:pt x="5005" y="2289796"/>
                      <a:pt x="0" y="2284791"/>
                      <a:pt x="0" y="2278617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648214" cy="2327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46950" y="928332"/>
              <a:ext cx="14095560" cy="2632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72"/>
                </a:lnSpc>
              </a:pPr>
              <a:r>
                <a:rPr lang="en-US" sz="7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Data Visualisation &amp; Dashboard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46950" y="4105167"/>
              <a:ext cx="7951616" cy="621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04"/>
                </a:lnSpc>
                <a:spcBef>
                  <a:spcPct val="0"/>
                </a:spcBef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Da</a:t>
              </a: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shboard KPIs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Revenue: 8,123,673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Customers: 6,889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Transactions: 125,000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Average Transaction Amount: 64.99</a:t>
              </a:r>
            </a:p>
            <a:p>
              <a:pPr algn="l" marL="0" indent="0" lvl="0">
                <a:lnSpc>
                  <a:spcPts val="310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104"/>
                </a:lnSpc>
                <a:spcBef>
                  <a:spcPct val="0"/>
                </a:spcBef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Visualizations Included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Top Customers Analysis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Monthly Revenue Analysis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Year-wise Revenue Analysis</a:t>
              </a:r>
            </a:p>
            <a:p>
              <a:pPr algn="l" marL="496567" indent="-248284" lvl="1">
                <a:lnSpc>
                  <a:spcPts val="310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pc="137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Day-wise Revenue Analysis</a:t>
              </a:r>
            </a:p>
            <a:p>
              <a:pPr algn="l" marL="0" indent="0" lvl="0">
                <a:lnSpc>
                  <a:spcPts val="310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954606" y="4587944"/>
            <a:ext cx="6316904" cy="3718002"/>
          </a:xfrm>
          <a:custGeom>
            <a:avLst/>
            <a:gdLst/>
            <a:ahLst/>
            <a:cxnLst/>
            <a:rect r="r" b="b" t="t" l="l"/>
            <a:pathLst>
              <a:path h="3718002" w="6316904">
                <a:moveTo>
                  <a:pt x="0" y="0"/>
                </a:moveTo>
                <a:lnTo>
                  <a:pt x="6316904" y="0"/>
                </a:lnTo>
                <a:lnTo>
                  <a:pt x="6316904" y="3718002"/>
                </a:lnTo>
                <a:lnTo>
                  <a:pt x="0" y="371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95244" y="3154322"/>
            <a:ext cx="4297511" cy="3985171"/>
            <a:chOff x="0" y="0"/>
            <a:chExt cx="5730015" cy="5313562"/>
          </a:xfrm>
        </p:grpSpPr>
        <p:sp>
          <p:nvSpPr>
            <p:cNvPr name="Freeform 4" id="4"/>
            <p:cNvSpPr/>
            <p:nvPr/>
          </p:nvSpPr>
          <p:spPr>
            <a:xfrm flipH="false" flipV="false" rot="-7900054">
              <a:off x="402458" y="402817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1" y="0"/>
                  </a:lnTo>
                  <a:lnTo>
                    <a:pt x="1350641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2700000">
              <a:off x="3960453" y="418109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3209977">
              <a:off x="4029166" y="4287023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7866361">
              <a:off x="377227" y="4254847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707823"/>
              <a:ext cx="5730015" cy="1961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529"/>
                </a:lnSpc>
                <a:spcBef>
                  <a:spcPct val="0"/>
                </a:spcBef>
              </a:pPr>
              <a:r>
                <a:rPr lang="en-US" sz="57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Insights Generated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6626729">
            <a:off x="9456655" y="666726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79295" y="737718"/>
            <a:ext cx="16439751" cy="8236416"/>
            <a:chOff x="0" y="0"/>
            <a:chExt cx="21919668" cy="1098188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4544"/>
              <a:ext cx="7685627" cy="3550563"/>
              <a:chOff x="0" y="0"/>
              <a:chExt cx="2131381" cy="98464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31381" cy="984643"/>
              </a:xfrm>
              <a:custGeom>
                <a:avLst/>
                <a:gdLst/>
                <a:ahLst/>
                <a:cxnLst/>
                <a:rect r="r" b="b" t="t" l="l"/>
                <a:pathLst>
                  <a:path h="984643" w="2131381">
                    <a:moveTo>
                      <a:pt x="26862" y="0"/>
                    </a:moveTo>
                    <a:lnTo>
                      <a:pt x="2104519" y="0"/>
                    </a:lnTo>
                    <a:cubicBezTo>
                      <a:pt x="2111643" y="0"/>
                      <a:pt x="2118476" y="2830"/>
                      <a:pt x="2123513" y="7868"/>
                    </a:cubicBezTo>
                    <a:cubicBezTo>
                      <a:pt x="2128551" y="12905"/>
                      <a:pt x="2131381" y="19738"/>
                      <a:pt x="2131381" y="26862"/>
                    </a:cubicBezTo>
                    <a:lnTo>
                      <a:pt x="2131381" y="957781"/>
                    </a:lnTo>
                    <a:cubicBezTo>
                      <a:pt x="2131381" y="964906"/>
                      <a:pt x="2128551" y="971738"/>
                      <a:pt x="2123513" y="976776"/>
                    </a:cubicBezTo>
                    <a:cubicBezTo>
                      <a:pt x="2118476" y="981813"/>
                      <a:pt x="2111643" y="984643"/>
                      <a:pt x="2104519" y="984643"/>
                    </a:cubicBezTo>
                    <a:lnTo>
                      <a:pt x="26862" y="984643"/>
                    </a:lnTo>
                    <a:cubicBezTo>
                      <a:pt x="19738" y="984643"/>
                      <a:pt x="12905" y="981813"/>
                      <a:pt x="7868" y="976776"/>
                    </a:cubicBezTo>
                    <a:cubicBezTo>
                      <a:pt x="2830" y="971738"/>
                      <a:pt x="0" y="964906"/>
                      <a:pt x="0" y="957781"/>
                    </a:cubicBezTo>
                    <a:lnTo>
                      <a:pt x="0" y="26862"/>
                    </a:lnTo>
                    <a:cubicBezTo>
                      <a:pt x="0" y="19738"/>
                      <a:pt x="2830" y="12905"/>
                      <a:pt x="7868" y="7868"/>
                    </a:cubicBezTo>
                    <a:cubicBezTo>
                      <a:pt x="12905" y="2830"/>
                      <a:pt x="19738" y="0"/>
                      <a:pt x="2686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131381" cy="1022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3715663"/>
              <a:ext cx="7685627" cy="3550563"/>
              <a:chOff x="0" y="0"/>
              <a:chExt cx="2131381" cy="98464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31381" cy="984643"/>
              </a:xfrm>
              <a:custGeom>
                <a:avLst/>
                <a:gdLst/>
                <a:ahLst/>
                <a:cxnLst/>
                <a:rect r="r" b="b" t="t" l="l"/>
                <a:pathLst>
                  <a:path h="984643" w="2131381">
                    <a:moveTo>
                      <a:pt x="26862" y="0"/>
                    </a:moveTo>
                    <a:lnTo>
                      <a:pt x="2104519" y="0"/>
                    </a:lnTo>
                    <a:cubicBezTo>
                      <a:pt x="2111643" y="0"/>
                      <a:pt x="2118476" y="2830"/>
                      <a:pt x="2123513" y="7868"/>
                    </a:cubicBezTo>
                    <a:cubicBezTo>
                      <a:pt x="2128551" y="12905"/>
                      <a:pt x="2131381" y="19738"/>
                      <a:pt x="2131381" y="26862"/>
                    </a:cubicBezTo>
                    <a:lnTo>
                      <a:pt x="2131381" y="957781"/>
                    </a:lnTo>
                    <a:cubicBezTo>
                      <a:pt x="2131381" y="964906"/>
                      <a:pt x="2128551" y="971738"/>
                      <a:pt x="2123513" y="976776"/>
                    </a:cubicBezTo>
                    <a:cubicBezTo>
                      <a:pt x="2118476" y="981813"/>
                      <a:pt x="2111643" y="984643"/>
                      <a:pt x="2104519" y="984643"/>
                    </a:cubicBezTo>
                    <a:lnTo>
                      <a:pt x="26862" y="984643"/>
                    </a:lnTo>
                    <a:cubicBezTo>
                      <a:pt x="19738" y="984643"/>
                      <a:pt x="12905" y="981813"/>
                      <a:pt x="7868" y="976776"/>
                    </a:cubicBezTo>
                    <a:cubicBezTo>
                      <a:pt x="2830" y="971738"/>
                      <a:pt x="0" y="964906"/>
                      <a:pt x="0" y="957781"/>
                    </a:cubicBezTo>
                    <a:lnTo>
                      <a:pt x="0" y="26862"/>
                    </a:lnTo>
                    <a:cubicBezTo>
                      <a:pt x="0" y="19738"/>
                      <a:pt x="2830" y="12905"/>
                      <a:pt x="7868" y="7868"/>
                    </a:cubicBezTo>
                    <a:cubicBezTo>
                      <a:pt x="12905" y="2830"/>
                      <a:pt x="19738" y="0"/>
                      <a:pt x="2686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131381" cy="1022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7431325"/>
              <a:ext cx="7685627" cy="3550563"/>
              <a:chOff x="0" y="0"/>
              <a:chExt cx="2131381" cy="98464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31381" cy="984643"/>
              </a:xfrm>
              <a:custGeom>
                <a:avLst/>
                <a:gdLst/>
                <a:ahLst/>
                <a:cxnLst/>
                <a:rect r="r" b="b" t="t" l="l"/>
                <a:pathLst>
                  <a:path h="984643" w="2131381">
                    <a:moveTo>
                      <a:pt x="26862" y="0"/>
                    </a:moveTo>
                    <a:lnTo>
                      <a:pt x="2104519" y="0"/>
                    </a:lnTo>
                    <a:cubicBezTo>
                      <a:pt x="2111643" y="0"/>
                      <a:pt x="2118476" y="2830"/>
                      <a:pt x="2123513" y="7868"/>
                    </a:cubicBezTo>
                    <a:cubicBezTo>
                      <a:pt x="2128551" y="12905"/>
                      <a:pt x="2131381" y="19738"/>
                      <a:pt x="2131381" y="26862"/>
                    </a:cubicBezTo>
                    <a:lnTo>
                      <a:pt x="2131381" y="957781"/>
                    </a:lnTo>
                    <a:cubicBezTo>
                      <a:pt x="2131381" y="964906"/>
                      <a:pt x="2128551" y="971738"/>
                      <a:pt x="2123513" y="976776"/>
                    </a:cubicBezTo>
                    <a:cubicBezTo>
                      <a:pt x="2118476" y="981813"/>
                      <a:pt x="2111643" y="984643"/>
                      <a:pt x="2104519" y="984643"/>
                    </a:cubicBezTo>
                    <a:lnTo>
                      <a:pt x="26862" y="984643"/>
                    </a:lnTo>
                    <a:cubicBezTo>
                      <a:pt x="19738" y="984643"/>
                      <a:pt x="12905" y="981813"/>
                      <a:pt x="7868" y="976776"/>
                    </a:cubicBezTo>
                    <a:cubicBezTo>
                      <a:pt x="2830" y="971738"/>
                      <a:pt x="0" y="964906"/>
                      <a:pt x="0" y="957781"/>
                    </a:cubicBezTo>
                    <a:lnTo>
                      <a:pt x="0" y="26862"/>
                    </a:lnTo>
                    <a:cubicBezTo>
                      <a:pt x="0" y="19738"/>
                      <a:pt x="2830" y="12905"/>
                      <a:pt x="7868" y="7868"/>
                    </a:cubicBezTo>
                    <a:cubicBezTo>
                      <a:pt x="12905" y="2830"/>
                      <a:pt x="19738" y="0"/>
                      <a:pt x="2686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131381" cy="1022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84241" y="986957"/>
              <a:ext cx="3982152" cy="1528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9"/>
                </a:lnSpc>
              </a:pPr>
              <a:r>
                <a:rPr lang="en-US" sz="212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</a:t>
              </a:r>
              <a:r>
                <a:rPr lang="en-US" sz="2120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evenue Insights</a:t>
              </a:r>
            </a:p>
            <a:p>
              <a:pPr algn="l" marL="0" indent="0" lvl="0">
                <a:lnSpc>
                  <a:spcPts val="3159"/>
                </a:lnSpc>
              </a:pPr>
              <a:r>
                <a:rPr lang="en-US" sz="2120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revenue generated was 8,123,673.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119259" y="3911547"/>
              <a:ext cx="4138763" cy="3515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1"/>
                </a:lnSpc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Cust</a:t>
              </a: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omer Insights</a:t>
              </a:r>
            </a:p>
            <a:p>
              <a:pPr algn="l" marL="388615" indent="-194308" lvl="1">
                <a:lnSpc>
                  <a:spcPts val="2681"/>
                </a:lnSpc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Customer CS4424 generated the highest revenue of 2,933.</a:t>
              </a:r>
            </a:p>
            <a:p>
              <a:pPr algn="l" marL="388615" indent="-194308" lvl="1">
                <a:lnSpc>
                  <a:spcPts val="2681"/>
                </a:lnSpc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Top customers contribute significantly to overall revenue.</a:t>
              </a:r>
            </a:p>
            <a:p>
              <a:pPr algn="l" marL="0" indent="0" lvl="0">
                <a:lnSpc>
                  <a:spcPts val="2681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084241" y="8075107"/>
              <a:ext cx="4846889" cy="2626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1"/>
                </a:lnSpc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</a:t>
              </a: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onthly Analysis</a:t>
              </a:r>
            </a:p>
            <a:p>
              <a:pPr algn="l" marL="388615" indent="-194308" lvl="1">
                <a:lnSpc>
                  <a:spcPts val="2681"/>
                </a:lnSpc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August recorded the highest monthly revenue of 726,921.</a:t>
              </a:r>
            </a:p>
            <a:p>
              <a:pPr algn="l" marL="388615" indent="-194308" lvl="1">
                <a:lnSpc>
                  <a:spcPts val="2681"/>
                </a:lnSpc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January and October also showed strong performance</a:t>
              </a:r>
            </a:p>
            <a:p>
              <a:pPr algn="l" marL="0" indent="0" lvl="0">
                <a:lnSpc>
                  <a:spcPts val="2681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6537" y="471565"/>
              <a:ext cx="2112169" cy="2406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1086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01.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6537" y="4182684"/>
              <a:ext cx="2577703" cy="2406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1086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02.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06537" y="7898347"/>
              <a:ext cx="2651323" cy="2406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1086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03.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3896179" y="0"/>
              <a:ext cx="7744621" cy="3550563"/>
              <a:chOff x="0" y="0"/>
              <a:chExt cx="2147741" cy="98464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47741" cy="984643"/>
              </a:xfrm>
              <a:custGeom>
                <a:avLst/>
                <a:gdLst/>
                <a:ahLst/>
                <a:cxnLst/>
                <a:rect r="r" b="b" t="t" l="l"/>
                <a:pathLst>
                  <a:path h="984643" w="2147741">
                    <a:moveTo>
                      <a:pt x="26657" y="0"/>
                    </a:moveTo>
                    <a:lnTo>
                      <a:pt x="2121084" y="0"/>
                    </a:lnTo>
                    <a:cubicBezTo>
                      <a:pt x="2135806" y="0"/>
                      <a:pt x="2147741" y="11935"/>
                      <a:pt x="2147741" y="26657"/>
                    </a:cubicBezTo>
                    <a:lnTo>
                      <a:pt x="2147741" y="957986"/>
                    </a:lnTo>
                    <a:cubicBezTo>
                      <a:pt x="2147741" y="965056"/>
                      <a:pt x="2144933" y="971837"/>
                      <a:pt x="2139934" y="976836"/>
                    </a:cubicBezTo>
                    <a:cubicBezTo>
                      <a:pt x="2134934" y="981835"/>
                      <a:pt x="2128154" y="984643"/>
                      <a:pt x="2121084" y="984643"/>
                    </a:cubicBezTo>
                    <a:lnTo>
                      <a:pt x="26657" y="984643"/>
                    </a:lnTo>
                    <a:cubicBezTo>
                      <a:pt x="19587" y="984643"/>
                      <a:pt x="12807" y="981835"/>
                      <a:pt x="7808" y="976836"/>
                    </a:cubicBezTo>
                    <a:cubicBezTo>
                      <a:pt x="2809" y="971837"/>
                      <a:pt x="0" y="965056"/>
                      <a:pt x="0" y="957986"/>
                    </a:cubicBezTo>
                    <a:lnTo>
                      <a:pt x="0" y="26657"/>
                    </a:lnTo>
                    <a:cubicBezTo>
                      <a:pt x="0" y="19587"/>
                      <a:pt x="2809" y="12807"/>
                      <a:pt x="7808" y="7808"/>
                    </a:cubicBezTo>
                    <a:cubicBezTo>
                      <a:pt x="12807" y="2809"/>
                      <a:pt x="19587" y="0"/>
                      <a:pt x="26657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147741" cy="1022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3896179" y="7426781"/>
              <a:ext cx="7744621" cy="3555107"/>
              <a:chOff x="0" y="0"/>
              <a:chExt cx="2147741" cy="98590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47741" cy="985904"/>
              </a:xfrm>
              <a:custGeom>
                <a:avLst/>
                <a:gdLst/>
                <a:ahLst/>
                <a:cxnLst/>
                <a:rect r="r" b="b" t="t" l="l"/>
                <a:pathLst>
                  <a:path h="985904" w="2147741">
                    <a:moveTo>
                      <a:pt x="26657" y="0"/>
                    </a:moveTo>
                    <a:lnTo>
                      <a:pt x="2121084" y="0"/>
                    </a:lnTo>
                    <a:cubicBezTo>
                      <a:pt x="2135806" y="0"/>
                      <a:pt x="2147741" y="11935"/>
                      <a:pt x="2147741" y="26657"/>
                    </a:cubicBezTo>
                    <a:lnTo>
                      <a:pt x="2147741" y="959246"/>
                    </a:lnTo>
                    <a:cubicBezTo>
                      <a:pt x="2147741" y="966316"/>
                      <a:pt x="2144933" y="973097"/>
                      <a:pt x="2139934" y="978096"/>
                    </a:cubicBezTo>
                    <a:cubicBezTo>
                      <a:pt x="2134934" y="983095"/>
                      <a:pt x="2128154" y="985904"/>
                      <a:pt x="2121084" y="985904"/>
                    </a:cubicBezTo>
                    <a:lnTo>
                      <a:pt x="26657" y="985904"/>
                    </a:lnTo>
                    <a:cubicBezTo>
                      <a:pt x="19587" y="985904"/>
                      <a:pt x="12807" y="983095"/>
                      <a:pt x="7808" y="978096"/>
                    </a:cubicBezTo>
                    <a:cubicBezTo>
                      <a:pt x="2809" y="973097"/>
                      <a:pt x="0" y="966316"/>
                      <a:pt x="0" y="959246"/>
                    </a:cubicBezTo>
                    <a:lnTo>
                      <a:pt x="0" y="26657"/>
                    </a:lnTo>
                    <a:cubicBezTo>
                      <a:pt x="0" y="19587"/>
                      <a:pt x="2809" y="12807"/>
                      <a:pt x="7808" y="7808"/>
                    </a:cubicBezTo>
                    <a:cubicBezTo>
                      <a:pt x="12807" y="2809"/>
                      <a:pt x="19587" y="0"/>
                      <a:pt x="26657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147741" cy="10240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7284468" y="475285"/>
              <a:ext cx="4228010" cy="3070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1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Y</a:t>
              </a: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early Analysis</a:t>
              </a:r>
            </a:p>
            <a:p>
              <a:pPr algn="l" marL="388615" indent="-194308" lvl="1">
                <a:lnSpc>
                  <a:spcPts val="26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2013 generated the highest revenue of 2,137,352.</a:t>
              </a:r>
            </a:p>
            <a:p>
              <a:pPr algn="l" marL="388615" indent="-194308" lvl="1">
                <a:lnSpc>
                  <a:spcPts val="26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Revenue remained consistently strong between 2012 and 2014.</a:t>
              </a:r>
            </a:p>
            <a:p>
              <a:pPr algn="l" marL="0" indent="0" lvl="0">
                <a:lnSpc>
                  <a:spcPts val="2681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284468" y="7647427"/>
              <a:ext cx="4635200" cy="3070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1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Day-w</a:t>
              </a: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ise Analysis</a:t>
              </a:r>
            </a:p>
            <a:p>
              <a:pPr algn="l" marL="388615" indent="-194308" lvl="1">
                <a:lnSpc>
                  <a:spcPts val="26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Wednesday generated the highest revenue (1,170,771).</a:t>
              </a:r>
            </a:p>
            <a:p>
              <a:pPr algn="l" marL="388615" indent="-194308" lvl="1">
                <a:lnSpc>
                  <a:spcPts val="26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Tuesday and Saturday also recorded strong transaction activity.</a:t>
              </a:r>
            </a:p>
            <a:p>
              <a:pPr algn="l" marL="0" indent="0" lvl="0">
                <a:lnSpc>
                  <a:spcPts val="2681"/>
                </a:lnSpc>
                <a:spcBef>
                  <a:spcPct val="0"/>
                </a:spcBef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4556350" y="471565"/>
              <a:ext cx="2728119" cy="2418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10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04.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4650608" y="7886813"/>
              <a:ext cx="2633861" cy="2418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10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05.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5723503" y="-526518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25914" y="4811660"/>
            <a:ext cx="14436172" cy="3559266"/>
            <a:chOff x="0" y="0"/>
            <a:chExt cx="19248229" cy="474568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061375" cy="4745688"/>
              <a:chOff x="0" y="0"/>
              <a:chExt cx="1414679" cy="74090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14679" cy="740906"/>
              </a:xfrm>
              <a:custGeom>
                <a:avLst/>
                <a:gdLst/>
                <a:ahLst/>
                <a:cxnLst/>
                <a:rect r="r" b="b" t="t" l="l"/>
                <a:pathLst>
                  <a:path h="740906" w="1414679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0186854" y="0"/>
              <a:ext cx="9061375" cy="4745688"/>
              <a:chOff x="0" y="0"/>
              <a:chExt cx="1414679" cy="7409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14679" cy="740906"/>
              </a:xfrm>
              <a:custGeom>
                <a:avLst/>
                <a:gdLst/>
                <a:ahLst/>
                <a:cxnLst/>
                <a:rect r="r" b="b" t="t" l="l"/>
                <a:pathLst>
                  <a:path h="740906" w="1414679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9061375" cy="891648"/>
              <a:chOff x="0" y="0"/>
              <a:chExt cx="1414679" cy="13920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14679" cy="139206"/>
              </a:xfrm>
              <a:custGeom>
                <a:avLst/>
                <a:gdLst/>
                <a:ahLst/>
                <a:cxnLst/>
                <a:rect r="r" b="b" t="t" l="l"/>
                <a:pathLst>
                  <a:path h="139206" w="1414679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0186854" y="0"/>
              <a:ext cx="9061375" cy="891648"/>
              <a:chOff x="0" y="0"/>
              <a:chExt cx="1414679" cy="13920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14679" cy="139206"/>
              </a:xfrm>
              <a:custGeom>
                <a:avLst/>
                <a:gdLst/>
                <a:ahLst/>
                <a:cxnLst/>
                <a:rect r="r" b="b" t="t" l="l"/>
                <a:pathLst>
                  <a:path h="139206" w="1414679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70172" y="251099"/>
              <a:ext cx="6725650" cy="472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6"/>
                </a:lnSpc>
              </a:pPr>
              <a:r>
                <a:rPr lang="en-US" sz="2432" b="true">
                  <a:solidFill>
                    <a:srgbClr val="04001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Achievements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852860" y="251099"/>
              <a:ext cx="6725650" cy="472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6"/>
                </a:lnSpc>
              </a:pPr>
              <a:r>
                <a:rPr lang="en-US" sz="2432" b="true">
                  <a:solidFill>
                    <a:srgbClr val="04001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Future Scope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70172" y="1325857"/>
              <a:ext cx="7442437" cy="2571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564"/>
                </a:lnSpc>
                <a:buFont typeface="Arial"/>
                <a:buChar char="•"/>
              </a:pPr>
              <a:r>
                <a:rPr lang="en-US" sz="1899" spc="11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</a:t>
              </a: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leaned and prepared transaction data</a:t>
              </a:r>
            </a:p>
            <a:p>
              <a:pPr algn="l" marL="410209" indent="-205105" lvl="1">
                <a:lnSpc>
                  <a:spcPts val="2564"/>
                </a:lnSpc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Performed SQL-based business analysis</a:t>
              </a:r>
            </a:p>
            <a:p>
              <a:pPr algn="l" marL="410209" indent="-205105" lvl="1">
                <a:lnSpc>
                  <a:spcPts val="2564"/>
                </a:lnSpc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Created revenue and customer insights</a:t>
              </a:r>
            </a:p>
            <a:p>
              <a:pPr algn="l" marL="410209" indent="-205105" lvl="1">
                <a:lnSpc>
                  <a:spcPts val="2564"/>
                </a:lnSpc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Developed an interactive dashboard</a:t>
              </a:r>
            </a:p>
            <a:p>
              <a:pPr algn="l" marL="410209" indent="-205105" lvl="1">
                <a:lnSpc>
                  <a:spcPts val="2564"/>
                </a:lnSpc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Identified key customer and revenue trends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852860" y="1502839"/>
              <a:ext cx="7442437" cy="2139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5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99" spc="11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</a:t>
              </a: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ustomer segmentation analysis</a:t>
              </a:r>
            </a:p>
            <a:p>
              <a:pPr algn="l" marL="410209" indent="-205105" lvl="1">
                <a:lnSpc>
                  <a:spcPts val="25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Customer lifetime value prediction</a:t>
              </a:r>
            </a:p>
            <a:p>
              <a:pPr algn="l" marL="410209" indent="-205105" lvl="1">
                <a:lnSpc>
                  <a:spcPts val="25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Sales forecasting</a:t>
              </a:r>
            </a:p>
            <a:p>
              <a:pPr algn="l" marL="410209" indent="-205105" lvl="1">
                <a:lnSpc>
                  <a:spcPts val="25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99" spc="113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Interactive Power BI dashboard development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776247" y="895350"/>
            <a:ext cx="6037349" cy="116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b="true" sz="67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61192" y="2780352"/>
            <a:ext cx="953293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project successfully analyzed customer transaction data using Python, SQL, and Google Sheets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8546" y="4682588"/>
            <a:ext cx="10749778" cy="17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459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435729">
            <a:off x="-3241105" y="-2477065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DAHMg6KWl08</dc:identifier>
  <dcterms:modified xsi:type="dcterms:W3CDTF">2011-08-01T06:04:30Z</dcterms:modified>
  <cp:revision>1</cp:revision>
  <dc:title>Purple Blue and White Project Presentation</dc:title>
</cp:coreProperties>
</file>